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3CA34-581D-4715-96D1-BDADB85666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DC84BEA-9774-408C-A3AA-4AB97581DB4D}">
      <dgm:prSet/>
      <dgm:spPr/>
      <dgm:t>
        <a:bodyPr/>
        <a:lstStyle/>
        <a:p>
          <a:pPr>
            <a:defRPr cap="all"/>
          </a:pPr>
          <a:r>
            <a:rPr lang="en-GB" i="1"/>
            <a:t>How to spot it</a:t>
          </a:r>
          <a:endParaRPr lang="en-US"/>
        </a:p>
      </dgm:t>
    </dgm:pt>
    <dgm:pt modelId="{4A60F6D8-4870-409D-A217-5262C7D8D2FC}" type="parTrans" cxnId="{2437B6E9-FCD9-46EC-B1AE-BA29DB60DAED}">
      <dgm:prSet/>
      <dgm:spPr/>
      <dgm:t>
        <a:bodyPr/>
        <a:lstStyle/>
        <a:p>
          <a:endParaRPr lang="en-US"/>
        </a:p>
      </dgm:t>
    </dgm:pt>
    <dgm:pt modelId="{CFA9255C-DA7F-42EE-8C55-1A1A719AB8DD}" type="sibTrans" cxnId="{2437B6E9-FCD9-46EC-B1AE-BA29DB60DAED}">
      <dgm:prSet/>
      <dgm:spPr/>
      <dgm:t>
        <a:bodyPr/>
        <a:lstStyle/>
        <a:p>
          <a:endParaRPr lang="en-US"/>
        </a:p>
      </dgm:t>
    </dgm:pt>
    <dgm:pt modelId="{378CB2DA-7A2E-4EAF-8317-EFB1CA461C1C}">
      <dgm:prSet/>
      <dgm:spPr/>
      <dgm:t>
        <a:bodyPr/>
        <a:lstStyle/>
        <a:p>
          <a:pPr>
            <a:defRPr cap="all"/>
          </a:pPr>
          <a:r>
            <a:rPr lang="en-GB" i="1"/>
            <a:t>stop it</a:t>
          </a:r>
          <a:endParaRPr lang="en-US"/>
        </a:p>
      </dgm:t>
    </dgm:pt>
    <dgm:pt modelId="{DC20FF75-8AD3-4295-A338-54FF4D44805A}" type="parTrans" cxnId="{32732556-F4FC-4B9D-A5CC-C849FF6F9F12}">
      <dgm:prSet/>
      <dgm:spPr/>
      <dgm:t>
        <a:bodyPr/>
        <a:lstStyle/>
        <a:p>
          <a:endParaRPr lang="en-US"/>
        </a:p>
      </dgm:t>
    </dgm:pt>
    <dgm:pt modelId="{317CDE74-08CF-43B2-9BB6-9DC61861C3E3}" type="sibTrans" cxnId="{32732556-F4FC-4B9D-A5CC-C849FF6F9F12}">
      <dgm:prSet/>
      <dgm:spPr/>
      <dgm:t>
        <a:bodyPr/>
        <a:lstStyle/>
        <a:p>
          <a:endParaRPr lang="en-US"/>
        </a:p>
      </dgm:t>
    </dgm:pt>
    <dgm:pt modelId="{83E93862-4FD1-44FE-8F91-3BDB7D7D863E}">
      <dgm:prSet/>
      <dgm:spPr/>
      <dgm:t>
        <a:bodyPr/>
        <a:lstStyle/>
        <a:p>
          <a:pPr>
            <a:defRPr cap="all"/>
          </a:pPr>
          <a:r>
            <a:rPr lang="en-GB" i="1"/>
            <a:t>report it</a:t>
          </a:r>
          <a:br>
            <a:rPr lang="en-GB"/>
          </a:br>
          <a:endParaRPr lang="en-US"/>
        </a:p>
      </dgm:t>
    </dgm:pt>
    <dgm:pt modelId="{F5FA192C-A063-4400-86E6-8C8628B2A35B}" type="parTrans" cxnId="{4671DD6C-4C26-47D2-AA92-0C6AD5BAD912}">
      <dgm:prSet/>
      <dgm:spPr/>
      <dgm:t>
        <a:bodyPr/>
        <a:lstStyle/>
        <a:p>
          <a:endParaRPr lang="en-US"/>
        </a:p>
      </dgm:t>
    </dgm:pt>
    <dgm:pt modelId="{A5858844-4AF7-4F13-A041-0150DDEC3AEF}" type="sibTrans" cxnId="{4671DD6C-4C26-47D2-AA92-0C6AD5BAD912}">
      <dgm:prSet/>
      <dgm:spPr/>
      <dgm:t>
        <a:bodyPr/>
        <a:lstStyle/>
        <a:p>
          <a:endParaRPr lang="en-US"/>
        </a:p>
      </dgm:t>
    </dgm:pt>
    <dgm:pt modelId="{266D2CEC-128C-4502-B7D9-5B13FCE93EBE}" type="pres">
      <dgm:prSet presAssocID="{9643CA34-581D-4715-96D1-BDADB85666C6}" presName="root" presStyleCnt="0">
        <dgm:presLayoutVars>
          <dgm:dir/>
          <dgm:resizeHandles val="exact"/>
        </dgm:presLayoutVars>
      </dgm:prSet>
      <dgm:spPr/>
    </dgm:pt>
    <dgm:pt modelId="{31A8AB21-35A5-41A7-86DD-B3E9E1CE95F5}" type="pres">
      <dgm:prSet presAssocID="{BDC84BEA-9774-408C-A3AA-4AB97581DB4D}" presName="compNode" presStyleCnt="0"/>
      <dgm:spPr/>
    </dgm:pt>
    <dgm:pt modelId="{152823FC-2946-4FA1-B316-2F7CA4DFD0D6}" type="pres">
      <dgm:prSet presAssocID="{BDC84BEA-9774-408C-A3AA-4AB97581DB4D}" presName="iconBgRect" presStyleLbl="bgShp" presStyleIdx="0" presStyleCnt="3"/>
      <dgm:spPr/>
    </dgm:pt>
    <dgm:pt modelId="{ABE8712B-FC36-40A6-BDFA-8DAF9CE954E5}" type="pres">
      <dgm:prSet presAssocID="{BDC84BEA-9774-408C-A3AA-4AB97581DB4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6E70107-6272-4738-9515-780C2A50B14F}" type="pres">
      <dgm:prSet presAssocID="{BDC84BEA-9774-408C-A3AA-4AB97581DB4D}" presName="spaceRect" presStyleCnt="0"/>
      <dgm:spPr/>
    </dgm:pt>
    <dgm:pt modelId="{E9C2EFFF-831A-4CAF-BDCE-99E9A09CB5C0}" type="pres">
      <dgm:prSet presAssocID="{BDC84BEA-9774-408C-A3AA-4AB97581DB4D}" presName="textRect" presStyleLbl="revTx" presStyleIdx="0" presStyleCnt="3">
        <dgm:presLayoutVars>
          <dgm:chMax val="1"/>
          <dgm:chPref val="1"/>
        </dgm:presLayoutVars>
      </dgm:prSet>
      <dgm:spPr/>
    </dgm:pt>
    <dgm:pt modelId="{5DF89522-CED5-4024-9882-7962EBC6D93E}" type="pres">
      <dgm:prSet presAssocID="{CFA9255C-DA7F-42EE-8C55-1A1A719AB8DD}" presName="sibTrans" presStyleCnt="0"/>
      <dgm:spPr/>
    </dgm:pt>
    <dgm:pt modelId="{1BB2430E-DA9B-4C6F-B7AD-34C03F7D45E2}" type="pres">
      <dgm:prSet presAssocID="{378CB2DA-7A2E-4EAF-8317-EFB1CA461C1C}" presName="compNode" presStyleCnt="0"/>
      <dgm:spPr/>
    </dgm:pt>
    <dgm:pt modelId="{A7FE540B-DED5-49F2-A802-82500BF660A5}" type="pres">
      <dgm:prSet presAssocID="{378CB2DA-7A2E-4EAF-8317-EFB1CA461C1C}" presName="iconBgRect" presStyleLbl="bgShp" presStyleIdx="1" presStyleCnt="3"/>
      <dgm:spPr/>
    </dgm:pt>
    <dgm:pt modelId="{17D6D447-30CD-4471-8C3F-22DCB9CD30FA}" type="pres">
      <dgm:prSet presAssocID="{378CB2DA-7A2E-4EAF-8317-EFB1CA461C1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8005712B-26E1-4CF7-B4E9-82A1DCD3A871}" type="pres">
      <dgm:prSet presAssocID="{378CB2DA-7A2E-4EAF-8317-EFB1CA461C1C}" presName="spaceRect" presStyleCnt="0"/>
      <dgm:spPr/>
    </dgm:pt>
    <dgm:pt modelId="{9CE2CD1E-D8C1-4989-AE2E-55C1FD8CF44B}" type="pres">
      <dgm:prSet presAssocID="{378CB2DA-7A2E-4EAF-8317-EFB1CA461C1C}" presName="textRect" presStyleLbl="revTx" presStyleIdx="1" presStyleCnt="3">
        <dgm:presLayoutVars>
          <dgm:chMax val="1"/>
          <dgm:chPref val="1"/>
        </dgm:presLayoutVars>
      </dgm:prSet>
      <dgm:spPr/>
    </dgm:pt>
    <dgm:pt modelId="{709EFCD8-9229-4968-9692-1B91F546C874}" type="pres">
      <dgm:prSet presAssocID="{317CDE74-08CF-43B2-9BB6-9DC61861C3E3}" presName="sibTrans" presStyleCnt="0"/>
      <dgm:spPr/>
    </dgm:pt>
    <dgm:pt modelId="{C75DCE2C-8B06-4CC8-BE96-A02361849498}" type="pres">
      <dgm:prSet presAssocID="{83E93862-4FD1-44FE-8F91-3BDB7D7D863E}" presName="compNode" presStyleCnt="0"/>
      <dgm:spPr/>
    </dgm:pt>
    <dgm:pt modelId="{577D2BE7-7029-4AD4-84F2-3AD257483872}" type="pres">
      <dgm:prSet presAssocID="{83E93862-4FD1-44FE-8F91-3BDB7D7D863E}" presName="iconBgRect" presStyleLbl="bgShp" presStyleIdx="2" presStyleCnt="3"/>
      <dgm:spPr/>
    </dgm:pt>
    <dgm:pt modelId="{C1742656-2D15-44AC-B4D9-76B8E5CAC00C}" type="pres">
      <dgm:prSet presAssocID="{83E93862-4FD1-44FE-8F91-3BDB7D7D863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AF932BA-B399-4EFE-8BDF-D5BD1B53CC19}" type="pres">
      <dgm:prSet presAssocID="{83E93862-4FD1-44FE-8F91-3BDB7D7D863E}" presName="spaceRect" presStyleCnt="0"/>
      <dgm:spPr/>
    </dgm:pt>
    <dgm:pt modelId="{609450BA-4953-4B77-8F4B-002D60AD923F}" type="pres">
      <dgm:prSet presAssocID="{83E93862-4FD1-44FE-8F91-3BDB7D7D863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C6DAE69-05E9-418A-8705-3E7293BA6D36}" type="presOf" srcId="{378CB2DA-7A2E-4EAF-8317-EFB1CA461C1C}" destId="{9CE2CD1E-D8C1-4989-AE2E-55C1FD8CF44B}" srcOrd="0" destOrd="0" presId="urn:microsoft.com/office/officeart/2018/5/layout/IconCircleLabelList"/>
    <dgm:cxn modelId="{4671DD6C-4C26-47D2-AA92-0C6AD5BAD912}" srcId="{9643CA34-581D-4715-96D1-BDADB85666C6}" destId="{83E93862-4FD1-44FE-8F91-3BDB7D7D863E}" srcOrd="2" destOrd="0" parTransId="{F5FA192C-A063-4400-86E6-8C8628B2A35B}" sibTransId="{A5858844-4AF7-4F13-A041-0150DDEC3AEF}"/>
    <dgm:cxn modelId="{C8629F4F-8FE0-47B2-AB72-847A7DAB7407}" type="presOf" srcId="{9643CA34-581D-4715-96D1-BDADB85666C6}" destId="{266D2CEC-128C-4502-B7D9-5B13FCE93EBE}" srcOrd="0" destOrd="0" presId="urn:microsoft.com/office/officeart/2018/5/layout/IconCircleLabelList"/>
    <dgm:cxn modelId="{32732556-F4FC-4B9D-A5CC-C849FF6F9F12}" srcId="{9643CA34-581D-4715-96D1-BDADB85666C6}" destId="{378CB2DA-7A2E-4EAF-8317-EFB1CA461C1C}" srcOrd="1" destOrd="0" parTransId="{DC20FF75-8AD3-4295-A338-54FF4D44805A}" sibTransId="{317CDE74-08CF-43B2-9BB6-9DC61861C3E3}"/>
    <dgm:cxn modelId="{95C95B7A-E673-4A34-B4F1-3652E5B1B50F}" type="presOf" srcId="{83E93862-4FD1-44FE-8F91-3BDB7D7D863E}" destId="{609450BA-4953-4B77-8F4B-002D60AD923F}" srcOrd="0" destOrd="0" presId="urn:microsoft.com/office/officeart/2018/5/layout/IconCircleLabelList"/>
    <dgm:cxn modelId="{F6338CDC-9305-4530-B3FD-4D2369E42FEA}" type="presOf" srcId="{BDC84BEA-9774-408C-A3AA-4AB97581DB4D}" destId="{E9C2EFFF-831A-4CAF-BDCE-99E9A09CB5C0}" srcOrd="0" destOrd="0" presId="urn:microsoft.com/office/officeart/2018/5/layout/IconCircleLabelList"/>
    <dgm:cxn modelId="{2437B6E9-FCD9-46EC-B1AE-BA29DB60DAED}" srcId="{9643CA34-581D-4715-96D1-BDADB85666C6}" destId="{BDC84BEA-9774-408C-A3AA-4AB97581DB4D}" srcOrd="0" destOrd="0" parTransId="{4A60F6D8-4870-409D-A217-5262C7D8D2FC}" sibTransId="{CFA9255C-DA7F-42EE-8C55-1A1A719AB8DD}"/>
    <dgm:cxn modelId="{99DEAFD3-4831-4B02-9D0D-1427F69BA078}" type="presParOf" srcId="{266D2CEC-128C-4502-B7D9-5B13FCE93EBE}" destId="{31A8AB21-35A5-41A7-86DD-B3E9E1CE95F5}" srcOrd="0" destOrd="0" presId="urn:microsoft.com/office/officeart/2018/5/layout/IconCircleLabelList"/>
    <dgm:cxn modelId="{000B6454-BEBE-48AE-95BB-78423FC3031B}" type="presParOf" srcId="{31A8AB21-35A5-41A7-86DD-B3E9E1CE95F5}" destId="{152823FC-2946-4FA1-B316-2F7CA4DFD0D6}" srcOrd="0" destOrd="0" presId="urn:microsoft.com/office/officeart/2018/5/layout/IconCircleLabelList"/>
    <dgm:cxn modelId="{CFD82914-3135-4471-8606-30DC6FE619E7}" type="presParOf" srcId="{31A8AB21-35A5-41A7-86DD-B3E9E1CE95F5}" destId="{ABE8712B-FC36-40A6-BDFA-8DAF9CE954E5}" srcOrd="1" destOrd="0" presId="urn:microsoft.com/office/officeart/2018/5/layout/IconCircleLabelList"/>
    <dgm:cxn modelId="{4051E957-2F18-4F13-BB0C-CC813B1B9782}" type="presParOf" srcId="{31A8AB21-35A5-41A7-86DD-B3E9E1CE95F5}" destId="{16E70107-6272-4738-9515-780C2A50B14F}" srcOrd="2" destOrd="0" presId="urn:microsoft.com/office/officeart/2018/5/layout/IconCircleLabelList"/>
    <dgm:cxn modelId="{C884718B-1771-472A-8FDE-BE9E46B65EE6}" type="presParOf" srcId="{31A8AB21-35A5-41A7-86DD-B3E9E1CE95F5}" destId="{E9C2EFFF-831A-4CAF-BDCE-99E9A09CB5C0}" srcOrd="3" destOrd="0" presId="urn:microsoft.com/office/officeart/2018/5/layout/IconCircleLabelList"/>
    <dgm:cxn modelId="{15395869-E223-4905-B654-F100BF990779}" type="presParOf" srcId="{266D2CEC-128C-4502-B7D9-5B13FCE93EBE}" destId="{5DF89522-CED5-4024-9882-7962EBC6D93E}" srcOrd="1" destOrd="0" presId="urn:microsoft.com/office/officeart/2018/5/layout/IconCircleLabelList"/>
    <dgm:cxn modelId="{F0B5D784-ADCD-4A75-A5F5-3D914A0CF823}" type="presParOf" srcId="{266D2CEC-128C-4502-B7D9-5B13FCE93EBE}" destId="{1BB2430E-DA9B-4C6F-B7AD-34C03F7D45E2}" srcOrd="2" destOrd="0" presId="urn:microsoft.com/office/officeart/2018/5/layout/IconCircleLabelList"/>
    <dgm:cxn modelId="{6D885C2C-84EF-4C3F-B93B-062748C51460}" type="presParOf" srcId="{1BB2430E-DA9B-4C6F-B7AD-34C03F7D45E2}" destId="{A7FE540B-DED5-49F2-A802-82500BF660A5}" srcOrd="0" destOrd="0" presId="urn:microsoft.com/office/officeart/2018/5/layout/IconCircleLabelList"/>
    <dgm:cxn modelId="{B32C9084-5006-4009-8E35-791CF93F8EAF}" type="presParOf" srcId="{1BB2430E-DA9B-4C6F-B7AD-34C03F7D45E2}" destId="{17D6D447-30CD-4471-8C3F-22DCB9CD30FA}" srcOrd="1" destOrd="0" presId="urn:microsoft.com/office/officeart/2018/5/layout/IconCircleLabelList"/>
    <dgm:cxn modelId="{12D44B4B-3322-44C9-AFFF-00B9B647B35B}" type="presParOf" srcId="{1BB2430E-DA9B-4C6F-B7AD-34C03F7D45E2}" destId="{8005712B-26E1-4CF7-B4E9-82A1DCD3A871}" srcOrd="2" destOrd="0" presId="urn:microsoft.com/office/officeart/2018/5/layout/IconCircleLabelList"/>
    <dgm:cxn modelId="{652A575E-16AF-42BE-9EAD-E1B23D43C4BC}" type="presParOf" srcId="{1BB2430E-DA9B-4C6F-B7AD-34C03F7D45E2}" destId="{9CE2CD1E-D8C1-4989-AE2E-55C1FD8CF44B}" srcOrd="3" destOrd="0" presId="urn:microsoft.com/office/officeart/2018/5/layout/IconCircleLabelList"/>
    <dgm:cxn modelId="{FDDFA3E6-ACF3-4239-8B32-2FDB2B4F8A8D}" type="presParOf" srcId="{266D2CEC-128C-4502-B7D9-5B13FCE93EBE}" destId="{709EFCD8-9229-4968-9692-1B91F546C874}" srcOrd="3" destOrd="0" presId="urn:microsoft.com/office/officeart/2018/5/layout/IconCircleLabelList"/>
    <dgm:cxn modelId="{686208AF-7F18-4F70-B50B-8E5DAE41C0A7}" type="presParOf" srcId="{266D2CEC-128C-4502-B7D9-5B13FCE93EBE}" destId="{C75DCE2C-8B06-4CC8-BE96-A02361849498}" srcOrd="4" destOrd="0" presId="urn:microsoft.com/office/officeart/2018/5/layout/IconCircleLabelList"/>
    <dgm:cxn modelId="{1F769B48-4117-4F67-88DE-E33A6AB9C797}" type="presParOf" srcId="{C75DCE2C-8B06-4CC8-BE96-A02361849498}" destId="{577D2BE7-7029-4AD4-84F2-3AD257483872}" srcOrd="0" destOrd="0" presId="urn:microsoft.com/office/officeart/2018/5/layout/IconCircleLabelList"/>
    <dgm:cxn modelId="{6E34BB9C-4B6D-4D2A-8CBE-9D57C717BBE0}" type="presParOf" srcId="{C75DCE2C-8B06-4CC8-BE96-A02361849498}" destId="{C1742656-2D15-44AC-B4D9-76B8E5CAC00C}" srcOrd="1" destOrd="0" presId="urn:microsoft.com/office/officeart/2018/5/layout/IconCircleLabelList"/>
    <dgm:cxn modelId="{6E094060-06A1-458C-9969-3DD854280F45}" type="presParOf" srcId="{C75DCE2C-8B06-4CC8-BE96-A02361849498}" destId="{4AF932BA-B399-4EFE-8BDF-D5BD1B53CC19}" srcOrd="2" destOrd="0" presId="urn:microsoft.com/office/officeart/2018/5/layout/IconCircleLabelList"/>
    <dgm:cxn modelId="{DCA0752B-0AF9-432D-A062-14AD504547ED}" type="presParOf" srcId="{C75DCE2C-8B06-4CC8-BE96-A02361849498}" destId="{609450BA-4953-4B77-8F4B-002D60AD923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823FC-2946-4FA1-B316-2F7CA4DFD0D6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8712B-FC36-40A6-BDFA-8DAF9CE954E5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2EFFF-831A-4CAF-BDCE-99E9A09CB5C0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i="1" kern="1200"/>
            <a:t>How to spot it</a:t>
          </a:r>
          <a:endParaRPr lang="en-US" sz="2500" kern="1200"/>
        </a:p>
      </dsp:txBody>
      <dsp:txXfrm>
        <a:off x="93445" y="3018902"/>
        <a:ext cx="3206250" cy="720000"/>
      </dsp:txXfrm>
    </dsp:sp>
    <dsp:sp modelId="{A7FE540B-DED5-49F2-A802-82500BF660A5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6D447-30CD-4471-8C3F-22DCB9CD30FA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2CD1E-D8C1-4989-AE2E-55C1FD8CF44B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i="1" kern="1200"/>
            <a:t>stop it</a:t>
          </a:r>
          <a:endParaRPr lang="en-US" sz="2500" kern="1200"/>
        </a:p>
      </dsp:txBody>
      <dsp:txXfrm>
        <a:off x="3860789" y="3018902"/>
        <a:ext cx="3206250" cy="720000"/>
      </dsp:txXfrm>
    </dsp:sp>
    <dsp:sp modelId="{577D2BE7-7029-4AD4-84F2-3AD257483872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42656-2D15-44AC-B4D9-76B8E5CAC00C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450BA-4953-4B77-8F4B-002D60AD923F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i="1" kern="1200"/>
            <a:t>report it</a:t>
          </a:r>
          <a:br>
            <a:rPr lang="en-GB" sz="2500" kern="1200"/>
          </a:br>
          <a:endParaRPr lang="en-US" sz="2500" kern="120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12A1-E3F0-A189-8F94-62734B2EB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CA340-C595-136F-8ABB-90D89C15D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B3BE7-292C-67A2-760F-B80EB0DD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3F81-7BDC-165F-F7E2-2188483E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8B40-26A7-6AAA-5B9D-E9359BEC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68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800D-1520-A2BE-A3D5-C09673A3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9F5AC-0611-CFC0-074A-C85E6EF6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663AF-FD74-22B0-4085-5D54DB38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EA414-6A98-07F3-039F-BD124A539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EBA77-9566-9655-58DB-8897CC18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73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EE41-C4BC-4CC1-4DCA-E41EB366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C3B0B-A542-A4AC-8639-3B17F7015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362EF-3F17-1C2B-91B9-A6418D6F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C6312-96F5-D558-7E57-B5F6307A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6239C-850C-CAF2-70A2-47FCA048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7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31A3-4002-3826-177A-2B622B65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0157-1F74-E495-3BA2-297B35BC0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14AE6-175F-EA5C-FB36-402F18A29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B8D9F-9738-7BA3-E3B1-F612297D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EEEE8-898B-231B-AE3A-DE34C5F1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D990E-C94D-CEB9-D3B5-D5DA2D72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43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7FCD-BEA5-A1E4-CDB1-BBBB9E55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969C1-5C05-B675-4F73-159556DB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1B71E-2DF2-66CD-5CB6-66373EE4E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D880C-F33E-58E1-5A56-EDDED0FDA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94CD7-47ED-C3EC-0A87-DE7D6F81D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0E7AD-8E34-1920-E12D-079F8BE0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42C84-E9DE-2959-740A-A57CD0AE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356E8-49B7-2652-2160-6158C885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2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A77E-DFC1-3A02-3C08-0CFC3EBE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21ADE-DA72-F2E2-5E4D-04E5679A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198CC-0B91-A496-42FC-587F85B2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30FBE-0B36-36A6-4E45-05570341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5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853CD-2B9F-CFC9-B19D-480130B0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F8518-59B2-4923-A7CD-3BAB5864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CF25A-7352-8DB0-8589-44B1DA59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78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4620-3440-6EC3-EEBA-A5B0A9F1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60D1C-EEB3-D508-E8AD-22C926237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D5075-68AA-6E2E-C96E-79CA75EAA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F82CA-9437-E4A2-6540-7D4F7983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D44DB-6FD8-8B38-8A4E-BFFE427D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873B1-79A7-7E92-3128-0F8BB4DF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25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6A0E-D2A5-53AA-685E-5CA038E4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0A43D3-0E3C-14CC-7D8B-D35294A37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386DB-E5E5-4359-FA27-6AB971DD4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CF6C2-607D-F207-E3D5-F5292E74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63272-3C6A-E439-B7F0-1FE7D29E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25FDC-ED48-3A2B-5DE3-B18DB4AE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9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B2B1-D7BD-DBD7-5730-F17F5D02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0B266-C50B-F404-DA04-41EF17A20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BFBF8-5F05-7945-222C-F318BB9E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965B2-0AB6-2D3D-CEA6-53E741DF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E7AD-19E2-8B9E-F9FC-999991E6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45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9E8C2-43D1-BE54-A08E-13E8E1E90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08AD2-CE7B-5236-2FDE-C33B2D145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156E3-BEC0-BBF9-8205-726E6D3F0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BD63A-CF9D-A06E-3DE8-1BF25EB0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8B88-0C5D-B531-5FB9-1DB68453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24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E99389-D936-576E-D6AB-17E9B649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9D180-9307-1953-2C6F-ACB89F051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12D1E-B491-22D6-815C-F2E7F5F0C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2E865-E542-46BD-9C2F-4A2D7D2F42DC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DDC5E-8198-5094-48DD-CE3C05A56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32046-C9CE-E87D-8B57-3D240D8E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09903-3A88-4F00-A2B5-9417957713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69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7C244A-79DB-8315-AB23-7AB5E6DD7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7" r="14198" b="-1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90AF2B-F37F-DC88-AACD-FD2B65E5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650" y="3962400"/>
            <a:ext cx="5505814" cy="16904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Phishing Training &amp; Security Awareness By Amr Samir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FC7A134-C020-4500-BD98-059DE4632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8" r="20480" b="-2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09685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A3B43-58FC-6BC2-0BCD-7A69C7E2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89" y="682234"/>
            <a:ext cx="10044023" cy="877729"/>
          </a:xfrm>
        </p:spPr>
        <p:txBody>
          <a:bodyPr anchor="ctr">
            <a:noAutofit/>
          </a:bodyPr>
          <a:lstStyle/>
          <a:p>
            <a:r>
              <a:rPr lang="en-GB" sz="4000" b="1" dirty="0">
                <a:solidFill>
                  <a:srgbClr val="FFFFFF"/>
                </a:solidFill>
              </a:rPr>
              <a:t>Why Your Click Is The CEO's Nightmare</a:t>
            </a:r>
            <a:br>
              <a:rPr lang="en-GB" sz="4000" b="1" dirty="0">
                <a:solidFill>
                  <a:srgbClr val="FFFFFF"/>
                </a:solidFill>
              </a:rPr>
            </a:br>
            <a:br>
              <a:rPr lang="en-GB" sz="4000" b="1" dirty="0">
                <a:solidFill>
                  <a:srgbClr val="FFFFFF"/>
                </a:solidFill>
              </a:rPr>
            </a:br>
            <a:endParaRPr lang="en-GB" sz="4000" b="1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60EF2B-5583-8AC1-5808-15F7CA12E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24054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9315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2A5CD-563F-650D-E74E-748BE4A3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GB" sz="3700" b="1"/>
              <a:t>Why Phishing Out Of All Attacks?</a:t>
            </a:r>
            <a:br>
              <a:rPr lang="en-GB" sz="3700" b="1"/>
            </a:br>
            <a:endParaRPr lang="en-GB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D55BF-6941-BDFB-E2D9-6EC5863E4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GB" sz="2000" i="1"/>
              <a:t>"90% of successful cyber attacks start with a phishing email."</a:t>
            </a:r>
            <a:r>
              <a:rPr lang="en-GB" sz="2000"/>
              <a:t> — Cisco 2024 Cybersecurity Report .</a:t>
            </a:r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r>
              <a:rPr lang="en-GB" sz="2000"/>
              <a:t> </a:t>
            </a:r>
          </a:p>
          <a:p>
            <a:r>
              <a:rPr lang="en-GB" sz="2000"/>
              <a:t>It targets the human, not the machine</a:t>
            </a:r>
          </a:p>
          <a:p>
            <a:r>
              <a:rPr lang="en-GB" sz="2000"/>
              <a:t>Humans cannot be patched</a:t>
            </a:r>
          </a:p>
          <a:p>
            <a:r>
              <a:rPr lang="en-GB" sz="2000"/>
              <a:t>One click bypasses millions in security tech</a:t>
            </a:r>
          </a:p>
          <a:p>
            <a:endParaRPr lang="en-GB" sz="20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1B616FA4-FA28-3E31-0ADE-5EC8B8F6D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6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20FDED-DABC-A180-E860-B1888E02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200" b="1" dirty="0"/>
              <a:t>The Most Dangerous Attack Type</a:t>
            </a:r>
            <a:br>
              <a:rPr lang="en-US" sz="3200" b="1" dirty="0"/>
            </a:br>
            <a:r>
              <a:rPr lang="en-US" sz="3200" b="1" dirty="0"/>
              <a:t>statistically according to Verizon DBIR 2024</a:t>
            </a:r>
            <a:b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2B1367-C7F5-7035-CEEF-6519BA573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497724"/>
              </p:ext>
            </p:extLst>
          </p:nvPr>
        </p:nvGraphicFramePr>
        <p:xfrm>
          <a:off x="6651243" y="1545324"/>
          <a:ext cx="4939505" cy="338440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37295">
                  <a:extLst>
                    <a:ext uri="{9D8B030D-6E8A-4147-A177-3AD203B41FA5}">
                      <a16:colId xmlns:a16="http://schemas.microsoft.com/office/drawing/2014/main" val="1748710042"/>
                    </a:ext>
                  </a:extLst>
                </a:gridCol>
                <a:gridCol w="2602210">
                  <a:extLst>
                    <a:ext uri="{9D8B030D-6E8A-4147-A177-3AD203B41FA5}">
                      <a16:colId xmlns:a16="http://schemas.microsoft.com/office/drawing/2014/main" val="1262122670"/>
                    </a:ext>
                  </a:extLst>
                </a:gridCol>
              </a:tblGrid>
              <a:tr h="686549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2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Attack Type</a:t>
                      </a:r>
                      <a:endParaRPr lang="en-GB" sz="26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2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% of Breaches</a:t>
                      </a:r>
                      <a:endParaRPr lang="en-GB" sz="26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911526"/>
                  </a:ext>
                </a:extLst>
              </a:tr>
              <a:tr h="6744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Phishing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90%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157132"/>
                  </a:ext>
                </a:extLst>
              </a:tr>
              <a:tr h="6744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Malware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5%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55766"/>
                  </a:ext>
                </a:extLst>
              </a:tr>
              <a:tr h="6744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Password attacks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3%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35264"/>
                  </a:ext>
                </a:extLst>
              </a:tr>
              <a:tr h="674465"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Physical attacks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875"/>
                        </a:lnSpc>
                        <a:buNone/>
                      </a:pPr>
                      <a:r>
                        <a:rPr lang="en-GB" sz="19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quote-cjk-patch"/>
                        </a:rPr>
                        <a:t>2%</a:t>
                      </a:r>
                      <a:endParaRPr lang="en-GB" sz="1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67704" marR="200778" marT="133852" marB="13385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703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89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E7014-DDA7-5475-30E7-CACDE998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GB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How To Recognize Phishing Emails</a:t>
            </a:r>
            <a:br>
              <a:rPr lang="en-GB" sz="320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GB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08FFE-677F-74DA-C737-7E47B4D06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09" y="1459655"/>
            <a:ext cx="4775791" cy="2686382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B171C-437E-97BA-BEE1-691F23351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264" y="301451"/>
            <a:ext cx="4230356" cy="631036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1050" b="1" dirty="0">
                <a:solidFill>
                  <a:srgbClr val="595959"/>
                </a:solidFill>
              </a:rPr>
              <a:t>Generic Greetings </a:t>
            </a:r>
            <a:endParaRPr lang="en-GB" sz="1050" dirty="0">
              <a:solidFill>
                <a:srgbClr val="595959"/>
              </a:solidFill>
            </a:endParaRPr>
          </a:p>
          <a:p>
            <a:r>
              <a:rPr lang="en-GB" sz="1050" dirty="0">
                <a:solidFill>
                  <a:srgbClr val="595959"/>
                </a:solidFill>
              </a:rPr>
              <a:t>An immediate sign that you’re reading a phishing email comes from the greeting. Generic greetings like ‘Dear Sir/Customer’ or ‘Hello Sir/User’ are indicators of a phishing email. Legitimate organizations usually address you by your name, such as ‘Dear John.</a:t>
            </a:r>
          </a:p>
          <a:p>
            <a:pPr marL="0" indent="0">
              <a:buNone/>
            </a:pPr>
            <a:endParaRPr lang="en-GB" sz="1050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GB" sz="1050" b="1" dirty="0">
                <a:solidFill>
                  <a:srgbClr val="595959"/>
                </a:solidFill>
              </a:rPr>
              <a:t>Sender’s email </a:t>
            </a:r>
            <a:endParaRPr lang="en-GB" sz="1050" dirty="0">
              <a:solidFill>
                <a:srgbClr val="595959"/>
              </a:solidFill>
            </a:endParaRPr>
          </a:p>
          <a:p>
            <a:r>
              <a:rPr lang="en-GB" sz="1050" dirty="0">
                <a:solidFill>
                  <a:srgbClr val="595959"/>
                </a:solidFill>
              </a:rPr>
              <a:t>Carefully check the sender’s email. Be aware of email addresses that look similar to those of legitimate entities but have very slight differences. </a:t>
            </a:r>
          </a:p>
          <a:p>
            <a:pPr marL="0" indent="0">
              <a:buNone/>
            </a:pPr>
            <a:r>
              <a:rPr lang="en-GB" sz="1050" dirty="0">
                <a:solidFill>
                  <a:srgbClr val="595959"/>
                </a:solidFill>
              </a:rPr>
              <a:t> </a:t>
            </a:r>
          </a:p>
          <a:p>
            <a:pPr marL="0" indent="0">
              <a:buNone/>
            </a:pPr>
            <a:r>
              <a:rPr lang="en-GB" sz="1050" b="1" dirty="0">
                <a:solidFill>
                  <a:srgbClr val="595959"/>
                </a:solidFill>
              </a:rPr>
              <a:t>Urgency </a:t>
            </a:r>
            <a:endParaRPr lang="en-GB" sz="1050" dirty="0">
              <a:solidFill>
                <a:srgbClr val="595959"/>
              </a:solidFill>
            </a:endParaRPr>
          </a:p>
          <a:p>
            <a:r>
              <a:rPr lang="en-GB" sz="1050" dirty="0">
                <a:solidFill>
                  <a:srgbClr val="595959"/>
                </a:solidFill>
              </a:rPr>
              <a:t>Phishing emails usually contain a sense of urgency, tricking users into taking actions without proper validation. Be cautious of emails asking you to click on a link to claim a bonus or emails claiming that your account will be suspended if you don’t take specific action. </a:t>
            </a:r>
          </a:p>
          <a:p>
            <a:pPr marL="0" indent="0">
              <a:buNone/>
            </a:pPr>
            <a:endParaRPr lang="en-GB" sz="1050" dirty="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GB" sz="1050" b="1" dirty="0">
                <a:solidFill>
                  <a:srgbClr val="595959"/>
                </a:solidFill>
              </a:rPr>
              <a:t>Request for personal information </a:t>
            </a:r>
            <a:endParaRPr lang="en-GB" sz="1050" dirty="0">
              <a:solidFill>
                <a:srgbClr val="595959"/>
              </a:solidFill>
            </a:endParaRPr>
          </a:p>
          <a:p>
            <a:r>
              <a:rPr lang="en-GB" sz="1050" dirty="0">
                <a:solidFill>
                  <a:srgbClr val="595959"/>
                </a:solidFill>
              </a:rPr>
              <a:t>Legitimate entities never request for personal information via email like passwords, social security number, credit card information etc. </a:t>
            </a:r>
          </a:p>
          <a:p>
            <a:pPr marL="0" indent="0">
              <a:buNone/>
            </a:pPr>
            <a:r>
              <a:rPr lang="en-GB" sz="1050" dirty="0">
                <a:solidFill>
                  <a:srgbClr val="595959"/>
                </a:solidFill>
              </a:rPr>
              <a:t> </a:t>
            </a:r>
          </a:p>
          <a:p>
            <a:pPr marL="0" indent="0">
              <a:buNone/>
            </a:pPr>
            <a:r>
              <a:rPr lang="en-GB" sz="1050" b="1" dirty="0">
                <a:solidFill>
                  <a:srgbClr val="595959"/>
                </a:solidFill>
              </a:rPr>
              <a:t>Links and attachments </a:t>
            </a:r>
            <a:endParaRPr lang="en-GB" sz="1050" dirty="0">
              <a:solidFill>
                <a:srgbClr val="595959"/>
              </a:solidFill>
            </a:endParaRPr>
          </a:p>
          <a:p>
            <a:r>
              <a:rPr lang="en-GB" sz="1050" dirty="0">
                <a:solidFill>
                  <a:srgbClr val="595959"/>
                </a:solidFill>
              </a:rPr>
              <a:t>Be cautious of irrelevant links or attachment in the email specially from suspicious senders. Hover over the link to see where the link leads to.</a:t>
            </a:r>
          </a:p>
          <a:p>
            <a:r>
              <a:rPr lang="en-GB" sz="1050" dirty="0">
                <a:solidFill>
                  <a:srgbClr val="595959"/>
                </a:solidFill>
              </a:rPr>
              <a:t> </a:t>
            </a:r>
          </a:p>
          <a:p>
            <a:pPr marL="0" indent="0">
              <a:buNone/>
            </a:pPr>
            <a:r>
              <a:rPr lang="en-GB" sz="1050" dirty="0">
                <a:solidFill>
                  <a:srgbClr val="595959"/>
                </a:solidFill>
              </a:rPr>
              <a:t> </a:t>
            </a:r>
            <a:r>
              <a:rPr lang="en-GB" sz="1050" b="1" dirty="0">
                <a:solidFill>
                  <a:srgbClr val="595959"/>
                </a:solidFill>
              </a:rPr>
              <a:t>Misspellings and grammatical mistakes </a:t>
            </a:r>
            <a:endParaRPr lang="en-GB" sz="1050" dirty="0">
              <a:solidFill>
                <a:srgbClr val="595959"/>
              </a:solidFill>
            </a:endParaRPr>
          </a:p>
          <a:p>
            <a:r>
              <a:rPr lang="en-GB" sz="1050" dirty="0">
                <a:solidFill>
                  <a:srgbClr val="595959"/>
                </a:solidFill>
              </a:rPr>
              <a:t>Legitimate entities can generally be expected to avoid spelling and grammatical mistakes. If an email contains such errors, it is most likely a phishing email.</a:t>
            </a:r>
          </a:p>
          <a:p>
            <a:endParaRPr lang="en-GB" sz="105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940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3EFEB-5DA2-9F4B-5132-B146BE18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Guess the real and the phishing e-mail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4D9E89-B110-7895-EE2F-3C372F6A89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9" y="1517080"/>
            <a:ext cx="5617571" cy="476089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3E1040-67E6-53D2-ABAE-875B37F6B6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214" y="1526639"/>
            <a:ext cx="5617571" cy="4760891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36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38FC6-A7A7-ED93-749C-F3F0245E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417C-1067-92B6-EEFC-0DC7FEB95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Guess the real and the phishing e-mail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CC0467-4F6B-6CB1-7C37-8804E4C43C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9" y="1517080"/>
            <a:ext cx="5617571" cy="476089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C05EDB-5C76-5B54-112C-FBCCCA36DA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214" y="1526639"/>
            <a:ext cx="5617571" cy="47608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904A8E-98CE-46F1-FEE7-E8707F087383}"/>
              </a:ext>
            </a:extLst>
          </p:cNvPr>
          <p:cNvSpPr/>
          <p:nvPr/>
        </p:nvSpPr>
        <p:spPr>
          <a:xfrm>
            <a:off x="2210637" y="6287530"/>
            <a:ext cx="1738365" cy="386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</a:t>
            </a:r>
            <a:endParaRPr lang="en-GB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C5CF8A-0E33-835C-C33C-39DA07121319}"/>
              </a:ext>
            </a:extLst>
          </p:cNvPr>
          <p:cNvSpPr/>
          <p:nvPr/>
        </p:nvSpPr>
        <p:spPr>
          <a:xfrm>
            <a:off x="8425509" y="6277971"/>
            <a:ext cx="1738365" cy="386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fake</a:t>
            </a:r>
          </a:p>
        </p:txBody>
      </p:sp>
    </p:spTree>
    <p:extLst>
      <p:ext uri="{BB962C8B-B14F-4D97-AF65-F5344CB8AC3E}">
        <p14:creationId xmlns:p14="http://schemas.microsoft.com/office/powerpoint/2010/main" val="2555832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FA951-B302-CE99-E657-0D1F1E995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6" y="637762"/>
            <a:ext cx="2912201" cy="55767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 What To Do When You Suspect Phishing</a:t>
            </a:r>
            <a:b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3" y="4549143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5738A1-8E5D-C301-3D51-49599686B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755328"/>
              </p:ext>
            </p:extLst>
          </p:nvPr>
        </p:nvGraphicFramePr>
        <p:xfrm>
          <a:off x="5519710" y="637762"/>
          <a:ext cx="5445906" cy="357930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1478402">
                  <a:extLst>
                    <a:ext uri="{9D8B030D-6E8A-4147-A177-3AD203B41FA5}">
                      <a16:colId xmlns:a16="http://schemas.microsoft.com/office/drawing/2014/main" val="2827026813"/>
                    </a:ext>
                  </a:extLst>
                </a:gridCol>
                <a:gridCol w="3967504">
                  <a:extLst>
                    <a:ext uri="{9D8B030D-6E8A-4147-A177-3AD203B41FA5}">
                      <a16:colId xmlns:a16="http://schemas.microsoft.com/office/drawing/2014/main" val="2121420963"/>
                    </a:ext>
                  </a:extLst>
                </a:gridCol>
              </a:tblGrid>
              <a:tr h="83531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21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Step</a:t>
                      </a:r>
                    </a:p>
                  </a:txBody>
                  <a:tcPr marL="163251" marR="310953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21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Action</a:t>
                      </a:r>
                    </a:p>
                  </a:txBody>
                  <a:tcPr marL="163251" marR="310953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723057"/>
                  </a:ext>
                </a:extLst>
              </a:tr>
              <a:tr h="8089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 STOP</a:t>
                      </a:r>
                      <a:endParaRPr lang="en-GB" sz="16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63251" marR="310953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Do not click anything. Do not reply.</a:t>
                      </a:r>
                    </a:p>
                  </a:txBody>
                  <a:tcPr marL="163251" marR="233216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923890"/>
                  </a:ext>
                </a:extLst>
              </a:tr>
              <a:tr h="11261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2. REPORT</a:t>
                      </a:r>
                      <a:endParaRPr lang="en-GB" sz="16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63251" marR="310953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Forward the email to IT security (or report button in Outlook)</a:t>
                      </a:r>
                    </a:p>
                  </a:txBody>
                  <a:tcPr marL="163251" marR="233216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60447"/>
                  </a:ext>
                </a:extLst>
              </a:tr>
              <a:tr h="8089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3. DELETE</a:t>
                      </a:r>
                      <a:endParaRPr lang="en-GB" sz="16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63251" marR="310953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6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Delete the email. Do not open it again.</a:t>
                      </a:r>
                    </a:p>
                  </a:txBody>
                  <a:tcPr marL="163251" marR="233216" marT="120203" marB="34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579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032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89EC6-92D8-8F1D-DE1D-114FD00F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Quiz</a:t>
            </a:r>
            <a:b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3E08EF-407E-0CE3-09BC-6C521798AA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88222763"/>
              </p:ext>
            </p:extLst>
          </p:nvPr>
        </p:nvGraphicFramePr>
        <p:xfrm>
          <a:off x="838200" y="2111835"/>
          <a:ext cx="10512548" cy="391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047">
                  <a:extLst>
                    <a:ext uri="{9D8B030D-6E8A-4147-A177-3AD203B41FA5}">
                      <a16:colId xmlns:a16="http://schemas.microsoft.com/office/drawing/2014/main" val="2444965596"/>
                    </a:ext>
                  </a:extLst>
                </a:gridCol>
                <a:gridCol w="2858501">
                  <a:extLst>
                    <a:ext uri="{9D8B030D-6E8A-4147-A177-3AD203B41FA5}">
                      <a16:colId xmlns:a16="http://schemas.microsoft.com/office/drawing/2014/main" val="1808518334"/>
                    </a:ext>
                  </a:extLst>
                </a:gridCol>
              </a:tblGrid>
              <a:tr h="57102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2300" b="1" cap="none" spc="0">
                          <a:solidFill>
                            <a:schemeClr val="tx1"/>
                          </a:solidFill>
                          <a:effectLst/>
                        </a:rPr>
                        <a:t>Question</a:t>
                      </a:r>
                      <a:endParaRPr lang="en-GB" sz="2300" b="1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2300" b="1" cap="none" spc="0">
                          <a:solidFill>
                            <a:schemeClr val="tx1"/>
                          </a:solidFill>
                          <a:effectLst/>
                        </a:rPr>
                        <a:t>Answer</a:t>
                      </a:r>
                      <a:endParaRPr lang="en-GB" sz="2300" b="1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b"/>
                </a:tc>
                <a:extLst>
                  <a:ext uri="{0D108BD9-81ED-4DB2-BD59-A6C34878D82A}">
                    <a16:rowId xmlns:a16="http://schemas.microsoft.com/office/drawing/2014/main" val="3754078877"/>
                  </a:ext>
                </a:extLst>
              </a:tr>
              <a:tr h="8466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1. The email says "Your PayPal account is suspended. Click here to verify." What do you do?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01976" marT="26906" marB="201796" anchor="ctr"/>
                </a:tc>
                <a:extLst>
                  <a:ext uri="{0D108BD9-81ED-4DB2-BD59-A6C34878D82A}">
                    <a16:rowId xmlns:a16="http://schemas.microsoft.com/office/drawing/2014/main" val="2685459222"/>
                  </a:ext>
                </a:extLst>
              </a:tr>
              <a:tr h="5510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2. The sender is "admin@micros0ft.com" (zero instead of o). Real or phish?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01976" marT="26906" marB="201796" anchor="ctr"/>
                </a:tc>
                <a:extLst>
                  <a:ext uri="{0D108BD9-81ED-4DB2-BD59-A6C34878D82A}">
                    <a16:rowId xmlns:a16="http://schemas.microsoft.com/office/drawing/2014/main" val="1356826269"/>
                  </a:ext>
                </a:extLst>
              </a:tr>
              <a:tr h="5510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3. You clicked a link by accident. No password entered. Are you safe?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01976" marT="26906" marB="201796" anchor="ctr"/>
                </a:tc>
                <a:extLst>
                  <a:ext uri="{0D108BD9-81ED-4DB2-BD59-A6C34878D82A}">
                    <a16:rowId xmlns:a16="http://schemas.microsoft.com/office/drawing/2014/main" val="396659256"/>
                  </a:ext>
                </a:extLst>
              </a:tr>
              <a:tr h="84667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4. The email has the company logo and looks perfect. Can it still be phishing?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01976" marT="26906" marB="201796" anchor="ctr"/>
                </a:tc>
                <a:extLst>
                  <a:ext uri="{0D108BD9-81ED-4DB2-BD59-A6C34878D82A}">
                    <a16:rowId xmlns:a16="http://schemas.microsoft.com/office/drawing/2014/main" val="3769414236"/>
                  </a:ext>
                </a:extLst>
              </a:tr>
              <a:tr h="5510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5. You are 100% sure an email is phishing. What do you do?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35970" marT="26906" marB="20179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4172" marR="101976" marT="26906" marB="201796" anchor="ctr"/>
                </a:tc>
                <a:extLst>
                  <a:ext uri="{0D108BD9-81ED-4DB2-BD59-A6C34878D82A}">
                    <a16:rowId xmlns:a16="http://schemas.microsoft.com/office/drawing/2014/main" val="3070499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660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475BB-4624-8B64-0F14-89D882E9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8B661-7FB8-8F90-44FD-FFE1A83B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Quiz</a:t>
            </a:r>
            <a:b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0EF5E26-0629-DFAD-DD59-F752086F8D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35996879"/>
              </p:ext>
            </p:extLst>
          </p:nvPr>
        </p:nvGraphicFramePr>
        <p:xfrm>
          <a:off x="857578" y="1845426"/>
          <a:ext cx="10473792" cy="4450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1176">
                  <a:extLst>
                    <a:ext uri="{9D8B030D-6E8A-4147-A177-3AD203B41FA5}">
                      <a16:colId xmlns:a16="http://schemas.microsoft.com/office/drawing/2014/main" val="2444965596"/>
                    </a:ext>
                  </a:extLst>
                </a:gridCol>
                <a:gridCol w="3902616">
                  <a:extLst>
                    <a:ext uri="{9D8B030D-6E8A-4147-A177-3AD203B41FA5}">
                      <a16:colId xmlns:a16="http://schemas.microsoft.com/office/drawing/2014/main" val="1808518334"/>
                    </a:ext>
                  </a:extLst>
                </a:gridCol>
              </a:tblGrid>
              <a:tr h="5151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Question</a:t>
                      </a:r>
                      <a:endParaRPr lang="en-GB" sz="2300" b="1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2300" b="1" cap="none" spc="0">
                          <a:solidFill>
                            <a:schemeClr val="tx1"/>
                          </a:solidFill>
                          <a:effectLst/>
                        </a:rPr>
                        <a:t>Answer</a:t>
                      </a:r>
                      <a:endParaRPr lang="en-GB" sz="2300" b="1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b"/>
                </a:tc>
                <a:extLst>
                  <a:ext uri="{0D108BD9-81ED-4DB2-BD59-A6C34878D82A}">
                    <a16:rowId xmlns:a16="http://schemas.microsoft.com/office/drawing/2014/main" val="3754078877"/>
                  </a:ext>
                </a:extLst>
              </a:tr>
              <a:tr h="7393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1. The email says "Your PayPal account is suspended. Click here to verify." What do you do?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and delete. Open PayPal directly in browser, not the link.</a:t>
                      </a:r>
                      <a:endParaRPr lang="en-GB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00811" marT="26599" marB="199490" anchor="ctr"/>
                </a:tc>
                <a:extLst>
                  <a:ext uri="{0D108BD9-81ED-4DB2-BD59-A6C34878D82A}">
                    <a16:rowId xmlns:a16="http://schemas.microsoft.com/office/drawing/2014/main" val="2685459222"/>
                  </a:ext>
                </a:extLst>
              </a:tr>
              <a:tr h="7393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2. The sender is "admin@micros0ft.com" (zero instead of o). Real or phish?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Phish. Domain is wrong.</a:t>
                      </a:r>
                      <a:endParaRPr lang="en-GB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00811" marT="26599" marB="199490" anchor="ctr"/>
                </a:tc>
                <a:extLst>
                  <a:ext uri="{0D108BD9-81ED-4DB2-BD59-A6C34878D82A}">
                    <a16:rowId xmlns:a16="http://schemas.microsoft.com/office/drawing/2014/main" val="1356826269"/>
                  </a:ext>
                </a:extLst>
              </a:tr>
              <a:tr h="9778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3. You clicked a link by accident. No password entered. Are you safe?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No. Malware can download without password. Disconnect from network and tell IT.</a:t>
                      </a:r>
                      <a:endParaRPr lang="en-GB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00811" marT="26599" marB="199490" anchor="ctr"/>
                </a:tc>
                <a:extLst>
                  <a:ext uri="{0D108BD9-81ED-4DB2-BD59-A6C34878D82A}">
                    <a16:rowId xmlns:a16="http://schemas.microsoft.com/office/drawing/2014/main" val="396659256"/>
                  </a:ext>
                </a:extLst>
              </a:tr>
              <a:tr h="7393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4. The email has the company logo and looks perfect. Can it still be phishing?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Yes. Attackers copy logos exactly.</a:t>
                      </a:r>
                      <a:endParaRPr lang="en-GB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00811" marT="26599" marB="199490" anchor="ctr"/>
                </a:tc>
                <a:extLst>
                  <a:ext uri="{0D108BD9-81ED-4DB2-BD59-A6C34878D82A}">
                    <a16:rowId xmlns:a16="http://schemas.microsoft.com/office/drawing/2014/main" val="3769414236"/>
                  </a:ext>
                </a:extLst>
              </a:tr>
              <a:tr h="7393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700" b="0" cap="none" spc="0">
                          <a:solidFill>
                            <a:schemeClr val="tx1"/>
                          </a:solidFill>
                          <a:effectLst/>
                        </a:rPr>
                        <a:t>5. You are 100% sure an email is phishing. What do you do?</a:t>
                      </a:r>
                      <a:endParaRPr lang="en-GB" sz="17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34416" marT="26599" marB="1994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 it. Do not delete without reporting.</a:t>
                      </a:r>
                      <a:endParaRPr lang="en-GB" sz="17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93096" marR="100811" marT="26599" marB="199490" anchor="ctr"/>
                </a:tc>
                <a:extLst>
                  <a:ext uri="{0D108BD9-81ED-4DB2-BD59-A6C34878D82A}">
                    <a16:rowId xmlns:a16="http://schemas.microsoft.com/office/drawing/2014/main" val="3070499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328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739CA-7BBF-D030-F32B-4E68391D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Cybersecurity is not just the IT team's job. It is every single person in this room.</a:t>
            </a: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61F69-BA21-2881-0C5C-7A88DD32E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Stay safe , thank you</a:t>
            </a:r>
          </a:p>
        </p:txBody>
      </p:sp>
    </p:spTree>
    <p:extLst>
      <p:ext uri="{BB962C8B-B14F-4D97-AF65-F5344CB8AC3E}">
        <p14:creationId xmlns:p14="http://schemas.microsoft.com/office/powerpoint/2010/main" val="7775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686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ADLaM Display</vt:lpstr>
      <vt:lpstr>Arial</vt:lpstr>
      <vt:lpstr>Calibri</vt:lpstr>
      <vt:lpstr>Calibri Light</vt:lpstr>
      <vt:lpstr>quote-cjk-patch</vt:lpstr>
      <vt:lpstr>Office Theme</vt:lpstr>
      <vt:lpstr>Phishing Training &amp; Security Awareness By Amr Samir</vt:lpstr>
      <vt:lpstr>Why Your Click Is The CEO's Nightmare  </vt:lpstr>
      <vt:lpstr>Why Phishing Out Of All Attacks? </vt:lpstr>
      <vt:lpstr> The Most Dangerous Attack Type statistically according to Verizon DBIR 2024  </vt:lpstr>
      <vt:lpstr>How To Recognize Phishing Emails </vt:lpstr>
      <vt:lpstr>Guess the real and the phishing e-mail </vt:lpstr>
      <vt:lpstr>Guess the real and the phishing e-mail </vt:lpstr>
      <vt:lpstr> What To Do When You Suspect Phishing </vt:lpstr>
      <vt:lpstr>Quick Quiz </vt:lpstr>
      <vt:lpstr>Quick Quiz </vt:lpstr>
      <vt:lpstr>Cybersecurity is not just the IT team's job. It is every single person in this room.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 Samir Elsayed</dc:creator>
  <cp:lastModifiedBy>Amr Samir Elsayed</cp:lastModifiedBy>
  <cp:revision>4</cp:revision>
  <dcterms:created xsi:type="dcterms:W3CDTF">2026-05-17T12:41:12Z</dcterms:created>
  <dcterms:modified xsi:type="dcterms:W3CDTF">2026-05-18T15:55:51Z</dcterms:modified>
</cp:coreProperties>
</file>